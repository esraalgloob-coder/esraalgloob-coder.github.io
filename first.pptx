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58"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07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3/10/2008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3/10/2008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3/10/2008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3/10/2008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3/10/2008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3/10/2008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3/10/2008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3/10/2008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3/10/2008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3/10/2008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3/10/2008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3/10/2008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6430962"/>
          </a:xfrm>
        </p:spPr>
        <p:txBody>
          <a:bodyPr>
            <a:normAutofit/>
          </a:bodyPr>
          <a:lstStyle/>
          <a:p>
            <a:r>
              <a:rPr lang="ar-SA" sz="9600" b="1" dirty="0" smtClean="0">
                <a:latin typeface="Traditional Arabic" pitchFamily="18" charset="-78"/>
                <a:cs typeface="Traditional Arabic" pitchFamily="18" charset="-78"/>
              </a:rPr>
              <a:t>أدارة معالجة الأعمال </a:t>
            </a:r>
            <a:endParaRPr lang="en-US" sz="9600" b="1" dirty="0">
              <a:latin typeface="Traditional Arabic" pitchFamily="18" charset="-78"/>
              <a:cs typeface="Traditional Arabic" pitchFamily="18" charset="-78"/>
            </a:endParaRPr>
          </a:p>
        </p:txBody>
      </p:sp>
    </p:spTree>
    <p:extLst>
      <p:ext uri="{BB962C8B-B14F-4D97-AF65-F5344CB8AC3E}">
        <p14:creationId xmlns:p14="http://schemas.microsoft.com/office/powerpoint/2010/main" val="6505438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447800"/>
            <a:ext cx="8229600" cy="3840162"/>
          </a:xfrm>
        </p:spPr>
        <p:txBody>
          <a:bodyPr>
            <a:normAutofit/>
          </a:bodyPr>
          <a:lstStyle/>
          <a:p>
            <a:r>
              <a:rPr lang="ar-SA" sz="9600" b="1" dirty="0">
                <a:latin typeface="Traditional Arabic" pitchFamily="18" charset="-78"/>
                <a:cs typeface="Traditional Arabic" pitchFamily="18" charset="-78"/>
              </a:rPr>
              <a:t>مفهوم سير العمل </a:t>
            </a:r>
            <a:endParaRPr lang="en-US" sz="9600" b="1" dirty="0">
              <a:latin typeface="Traditional Arabic" pitchFamily="18" charset="-78"/>
              <a:cs typeface="Traditional Arabic" pitchFamily="18" charset="-78"/>
            </a:endParaRPr>
          </a:p>
        </p:txBody>
      </p:sp>
    </p:spTree>
    <p:extLst>
      <p:ext uri="{BB962C8B-B14F-4D97-AF65-F5344CB8AC3E}">
        <p14:creationId xmlns:p14="http://schemas.microsoft.com/office/powerpoint/2010/main" val="31640617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63000" cy="6354762"/>
          </a:xfrm>
        </p:spPr>
        <p:txBody>
          <a:bodyPr>
            <a:normAutofit/>
          </a:bodyPr>
          <a:lstStyle/>
          <a:p>
            <a:pPr algn="just" rtl="1"/>
            <a:r>
              <a:rPr lang="ar-SA" sz="4000" dirty="0" smtClean="0"/>
              <a:t>تعرف إدارة سير الاعمال بانها الطريقة التي يقوم بها صانعو القرار داخل المؤسسات بتحديد مسارات المعاملات وتوجيه المهام وتعيين المسؤوليات وتحديد بداية وإنتهاء العمليات , ومايجعل إدارة سير العمل شئ أساسي هو التحكم في المواعيد وتنفيذ المهام المرتبطة بسلاسة وفقاً لبرنامج محدد فمن خلال نظام إدارة المستندات وبرنامج سير الاعمال , يمكن أن تكون مواعيد سير العمل هي القوة الدافعة لتنفيذ المهام بشكل فعال   .</a:t>
            </a:r>
            <a:endParaRPr lang="en-US" sz="4000" dirty="0"/>
          </a:p>
        </p:txBody>
      </p:sp>
    </p:spTree>
    <p:extLst>
      <p:ext uri="{BB962C8B-B14F-4D97-AF65-F5344CB8AC3E}">
        <p14:creationId xmlns:p14="http://schemas.microsoft.com/office/powerpoint/2010/main" val="38221036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63000" cy="6430962"/>
          </a:xfrm>
        </p:spPr>
        <p:txBody>
          <a:bodyPr/>
          <a:lstStyle/>
          <a:p>
            <a:pPr algn="just" rtl="1"/>
            <a:r>
              <a:rPr lang="ar-SA" dirty="0" smtClean="0"/>
              <a:t>سير العمل هو في الاساس سلسلة من المهام أو الأنشطة أو العمليات التي يتم تنظيمها وتنفيذها بترتيب معين لتحقيق هدف أو نتيجة معينة .</a:t>
            </a:r>
            <a:br>
              <a:rPr lang="ar-SA" dirty="0" smtClean="0"/>
            </a:br>
            <a:r>
              <a:rPr lang="ar-SA" dirty="0" smtClean="0"/>
              <a:t>يتم أستخدام سير العمل بشكل شائع في مختلف المجالات والصناعات لتبسيط العمليات المعقدة وتحسينها فهي تساعد في ضمان أستمرارية المؤسسة . </a:t>
            </a:r>
            <a:endParaRPr lang="en-US" dirty="0"/>
          </a:p>
        </p:txBody>
      </p:sp>
    </p:spTree>
    <p:extLst>
      <p:ext uri="{BB962C8B-B14F-4D97-AF65-F5344CB8AC3E}">
        <p14:creationId xmlns:p14="http://schemas.microsoft.com/office/powerpoint/2010/main" val="10920311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6354762"/>
          </a:xfrm>
        </p:spPr>
        <p:txBody>
          <a:bodyPr>
            <a:normAutofit fontScale="90000"/>
          </a:bodyPr>
          <a:lstStyle/>
          <a:p>
            <a:pPr algn="r" rtl="1"/>
            <a:r>
              <a:rPr lang="ar-SA" dirty="0" smtClean="0"/>
              <a:t>فيما يلي بعض الخصائص والمكونات الأساسية لمعظم عمليات سير العمل .</a:t>
            </a:r>
            <a:br>
              <a:rPr lang="ar-SA" dirty="0" smtClean="0"/>
            </a:br>
            <a:r>
              <a:rPr lang="ar-SA" dirty="0" smtClean="0"/>
              <a:t>الثلاثة التالية ضرورية للغاية – لا يوجد حرفياً سير عمل من دونها :</a:t>
            </a:r>
            <a:br>
              <a:rPr lang="ar-SA" dirty="0" smtClean="0"/>
            </a:br>
            <a:r>
              <a:rPr lang="ar-SA" b="1" dirty="0" smtClean="0">
                <a:solidFill>
                  <a:srgbClr val="FF0000"/>
                </a:solidFill>
              </a:rPr>
              <a:t>1- خطوات متسلسلة :</a:t>
            </a:r>
            <a:r>
              <a:rPr lang="ar-SA" dirty="0" smtClean="0"/>
              <a:t/>
            </a:r>
            <a:br>
              <a:rPr lang="ar-SA" dirty="0" smtClean="0"/>
            </a:br>
            <a:r>
              <a:rPr lang="ar-SA" dirty="0" smtClean="0"/>
              <a:t>تتضمن مهام سير العمل سلسلة من الخطوات أو الإجراءات التي يتم تنفيذها بترتيب محدد مسبقاً . تعتمد كل خطوةعادة علي إكمال الخطوة السابقة بنجاح .   </a:t>
            </a:r>
            <a:br>
              <a:rPr lang="ar-SA" dirty="0" smtClean="0"/>
            </a:br>
            <a:endParaRPr lang="en-US" dirty="0"/>
          </a:p>
        </p:txBody>
      </p:sp>
    </p:spTree>
    <p:extLst>
      <p:ext uri="{BB962C8B-B14F-4D97-AF65-F5344CB8AC3E}">
        <p14:creationId xmlns:p14="http://schemas.microsoft.com/office/powerpoint/2010/main" val="25566691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915400" cy="6278562"/>
          </a:xfrm>
        </p:spPr>
        <p:txBody>
          <a:bodyPr/>
          <a:lstStyle/>
          <a:p>
            <a:pPr algn="r" rtl="1"/>
            <a:r>
              <a:rPr lang="ar-SA" b="1" dirty="0" smtClean="0">
                <a:solidFill>
                  <a:srgbClr val="FF0000"/>
                </a:solidFill>
              </a:rPr>
              <a:t>2- مدخلات ومخرجات :</a:t>
            </a:r>
            <a:r>
              <a:rPr lang="ar-SA" dirty="0" smtClean="0"/>
              <a:t/>
            </a:r>
            <a:br>
              <a:rPr lang="ar-SA" dirty="0" smtClean="0"/>
            </a:br>
            <a:r>
              <a:rPr lang="ar-SA" dirty="0" smtClean="0"/>
              <a:t>تحتوي مسارات العمل علي مدخلات (مثل البيانات أو المعلومات أو المواد ) ومخرجات (النتائج أو المنتجات ) , يتم تحويل هذه المدخلات أو معالجتها أثناء سير العمل لإنتاج المخرجات المطلوبة . </a:t>
            </a:r>
            <a:br>
              <a:rPr lang="ar-SA" dirty="0" smtClean="0"/>
            </a:br>
            <a:r>
              <a:rPr lang="ar-SA" b="1" dirty="0" smtClean="0">
                <a:solidFill>
                  <a:srgbClr val="FF0000"/>
                </a:solidFill>
              </a:rPr>
              <a:t>3- القواعد والشروط :  </a:t>
            </a:r>
            <a:br>
              <a:rPr lang="ar-SA" b="1" dirty="0" smtClean="0">
                <a:solidFill>
                  <a:srgbClr val="FF0000"/>
                </a:solidFill>
              </a:rPr>
            </a:br>
            <a:r>
              <a:rPr lang="ar-SA" dirty="0" smtClean="0"/>
              <a:t>قد يتضمن سير العمل قواعد أو شروط أو نقاط قرار توجه سير العمل , تحدد هذه القواعد المسار الذي يتبعه سير العمل بناءً علي معايير محددة .</a:t>
            </a:r>
            <a:endParaRPr lang="en-US" dirty="0"/>
          </a:p>
        </p:txBody>
      </p:sp>
    </p:spTree>
    <p:extLst>
      <p:ext uri="{BB962C8B-B14F-4D97-AF65-F5344CB8AC3E}">
        <p14:creationId xmlns:p14="http://schemas.microsoft.com/office/powerpoint/2010/main" val="31976378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6430962"/>
          </a:xfrm>
        </p:spPr>
        <p:txBody>
          <a:bodyPr>
            <a:normAutofit fontScale="90000"/>
          </a:bodyPr>
          <a:lstStyle/>
          <a:p>
            <a:pPr algn="r" rtl="1"/>
            <a:r>
              <a:rPr lang="ar-SA" dirty="0" smtClean="0"/>
              <a:t>ستخطو عمليات سير العمل المصممة جيداً خططوة الي الامام وستحتوي ايضاً علي مايلي :</a:t>
            </a:r>
            <a:br>
              <a:rPr lang="ar-SA" dirty="0" smtClean="0"/>
            </a:br>
            <a:r>
              <a:rPr lang="ar-SA" b="1" dirty="0" smtClean="0">
                <a:solidFill>
                  <a:srgbClr val="FF0000"/>
                </a:solidFill>
              </a:rPr>
              <a:t>4- الأدوار والمسؤوليات المحددة :</a:t>
            </a:r>
            <a:br>
              <a:rPr lang="ar-SA" b="1" dirty="0" smtClean="0">
                <a:solidFill>
                  <a:srgbClr val="FF0000"/>
                </a:solidFill>
              </a:rPr>
            </a:br>
            <a:r>
              <a:rPr lang="ar-SA" dirty="0" smtClean="0"/>
              <a:t>غالباً سيقوم سير العمل بتعيين أدوار أو مسؤوليات محددة للأفراد أو الفرق المشاركة في العملية , وهذا يساعد في توضيح من المسؤول عن ماذا .</a:t>
            </a:r>
            <a:br>
              <a:rPr lang="ar-SA" dirty="0" smtClean="0"/>
            </a:br>
            <a:r>
              <a:rPr lang="ar-SA" b="1" dirty="0" smtClean="0">
                <a:solidFill>
                  <a:srgbClr val="FF0000"/>
                </a:solidFill>
              </a:rPr>
              <a:t>5- الأتمتة :</a:t>
            </a:r>
            <a:r>
              <a:rPr lang="ar-SA" dirty="0" smtClean="0"/>
              <a:t/>
            </a:r>
            <a:br>
              <a:rPr lang="ar-SA" dirty="0" smtClean="0"/>
            </a:br>
            <a:r>
              <a:rPr lang="ar-SA" dirty="0" smtClean="0"/>
              <a:t>في السياقات الحديثة غالباً ماتتم أتمتة سير العمل باستخدام أدوات وأنظمة برمجية , يمكن أن تساعد أتمتة في تقليل التدخل اليدوي وتسريع العمليات .  </a:t>
            </a:r>
            <a:endParaRPr lang="en-US" dirty="0"/>
          </a:p>
        </p:txBody>
      </p:sp>
    </p:spTree>
    <p:extLst>
      <p:ext uri="{BB962C8B-B14F-4D97-AF65-F5344CB8AC3E}">
        <p14:creationId xmlns:p14="http://schemas.microsoft.com/office/powerpoint/2010/main" val="35138229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6354762"/>
          </a:xfrm>
        </p:spPr>
        <p:txBody>
          <a:bodyPr>
            <a:noAutofit/>
          </a:bodyPr>
          <a:lstStyle/>
          <a:p>
            <a:pPr algn="r" rtl="1"/>
            <a:r>
              <a:rPr lang="ar-SA" sz="3800" b="1" dirty="0" smtClean="0">
                <a:solidFill>
                  <a:srgbClr val="FF0000"/>
                </a:solidFill>
              </a:rPr>
              <a:t>6- المراقبة والتتبع :</a:t>
            </a:r>
            <a:r>
              <a:rPr lang="ar-SA" sz="3800" dirty="0" smtClean="0"/>
              <a:t/>
            </a:r>
            <a:br>
              <a:rPr lang="ar-SA" sz="3800" dirty="0" smtClean="0"/>
            </a:br>
            <a:r>
              <a:rPr lang="ar-SA" sz="3800" dirty="0" smtClean="0"/>
              <a:t>تتضمن عمليات سير العمل غالباً اليات لرصد وتتبع التقدم , مما يسمح بقياس الأداء وتحسينه .</a:t>
            </a:r>
            <a:br>
              <a:rPr lang="ar-SA" sz="3800" dirty="0" smtClean="0"/>
            </a:br>
            <a:r>
              <a:rPr lang="ar-SA" sz="3800" dirty="0" smtClean="0"/>
              <a:t>يمكن للمرء استخدام أدوات تصور بسيطة مثل </a:t>
            </a:r>
            <a:r>
              <a:rPr lang="ar-SA" sz="3800" dirty="0" smtClean="0">
                <a:solidFill>
                  <a:srgbClr val="FF0000"/>
                </a:solidFill>
              </a:rPr>
              <a:t>المخطات الانسيابية </a:t>
            </a:r>
            <a:r>
              <a:rPr lang="ar-SA" sz="3800" dirty="0" smtClean="0"/>
              <a:t>أو </a:t>
            </a:r>
            <a:r>
              <a:rPr lang="ar-SA" sz="3800" dirty="0" smtClean="0">
                <a:solidFill>
                  <a:srgbClr val="FF0000"/>
                </a:solidFill>
              </a:rPr>
              <a:t>خرائط العمليات </a:t>
            </a:r>
            <a:r>
              <a:rPr lang="ar-SA" sz="3800" dirty="0" smtClean="0"/>
              <a:t>لتصميم سير العمل وتصميم العلاقات بين الخطوات المختلفة في التدفق .  </a:t>
            </a:r>
            <a:br>
              <a:rPr lang="ar-SA" sz="3800" dirty="0" smtClean="0"/>
            </a:br>
            <a:r>
              <a:rPr lang="ar-SA" sz="3800" dirty="0" smtClean="0"/>
              <a:t>يمكن أن تختلف سير العمل من حيث التعقيد والحجم , يتم أستخدامها في مجموعة واسعة من التطبيقات بدءاً من العمليات التجارية مثل ادارة العملاء المتوقعين وتأهيل العملاء ومعالجة الطالبات وحتي العمليات الابداعية مثل أنتاج المحتوي وادارة المحتوي .</a:t>
            </a:r>
            <a:endParaRPr lang="en-US" sz="3800" dirty="0"/>
          </a:p>
        </p:txBody>
      </p:sp>
    </p:spTree>
    <p:extLst>
      <p:ext uri="{BB962C8B-B14F-4D97-AF65-F5344CB8AC3E}">
        <p14:creationId xmlns:p14="http://schemas.microsoft.com/office/powerpoint/2010/main" val="27308525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63000" cy="6430962"/>
          </a:xfrm>
        </p:spPr>
        <p:txBody>
          <a:bodyPr>
            <a:normAutofit fontScale="90000"/>
          </a:bodyPr>
          <a:lstStyle/>
          <a:p>
            <a:pPr algn="r" rtl="1"/>
            <a:r>
              <a:rPr lang="ar-SA" b="1" dirty="0" smtClean="0">
                <a:solidFill>
                  <a:srgbClr val="FF0000"/>
                </a:solidFill>
              </a:rPr>
              <a:t>فهم أهمية تحسين سير العمل :</a:t>
            </a:r>
            <a:r>
              <a:rPr lang="ar-SA" dirty="0" smtClean="0"/>
              <a:t/>
            </a:r>
            <a:br>
              <a:rPr lang="ar-SA" dirty="0" smtClean="0"/>
            </a:br>
            <a:r>
              <a:rPr lang="ar-SA" dirty="0" smtClean="0"/>
              <a:t>الكفاءة هي العامل الرئيسي في اي شركة فهو لايساعد فقط في توفير الوقت والموارد ولكنه يضمن حسن سير العمليات , عندما يتعلق الامر بادارة سير العمل يلعب التحسين دوراً حاسماً في تحقيق نجاح خالي من الاعمال المتراكمة .</a:t>
            </a:r>
            <a:br>
              <a:rPr lang="ar-SA" dirty="0" smtClean="0"/>
            </a:br>
            <a:r>
              <a:rPr lang="ar-SA" b="1" dirty="0" smtClean="0">
                <a:solidFill>
                  <a:srgbClr val="FF0000"/>
                </a:solidFill>
              </a:rPr>
              <a:t>العناصر الاساسية لتحسين سير العمل : </a:t>
            </a:r>
            <a:br>
              <a:rPr lang="ar-SA" b="1" dirty="0" smtClean="0">
                <a:solidFill>
                  <a:srgbClr val="FF0000"/>
                </a:solidFill>
              </a:rPr>
            </a:br>
            <a:r>
              <a:rPr lang="ar-SA" b="1" dirty="0" smtClean="0">
                <a:solidFill>
                  <a:srgbClr val="FF0000"/>
                </a:solidFill>
              </a:rPr>
              <a:t>1- تحديد الاحتناقات والقضاء عليها :</a:t>
            </a:r>
            <a:br>
              <a:rPr lang="ar-SA" b="1" dirty="0" smtClean="0">
                <a:solidFill>
                  <a:srgbClr val="FF0000"/>
                </a:solidFill>
              </a:rPr>
            </a:br>
            <a:r>
              <a:rPr lang="ar-SA" sz="4200" dirty="0"/>
              <a:t>من خلال تحليل سير </a:t>
            </a:r>
            <a:r>
              <a:rPr lang="ar-SA" sz="4200" dirty="0" smtClean="0"/>
              <a:t>العمل حدد أي خطوات أو عمليات تؤدي الي ابطاء التقدم العام ابحث عن المهام التي تسبب تأخيرات أو تبعيات تعيق تدفق العمل .</a:t>
            </a:r>
            <a:endParaRPr lang="en-US" sz="4200" dirty="0"/>
          </a:p>
        </p:txBody>
      </p:sp>
    </p:spTree>
    <p:extLst>
      <p:ext uri="{BB962C8B-B14F-4D97-AF65-F5344CB8AC3E}">
        <p14:creationId xmlns:p14="http://schemas.microsoft.com/office/powerpoint/2010/main" val="30632167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6430962"/>
          </a:xfrm>
        </p:spPr>
        <p:txBody>
          <a:bodyPr/>
          <a:lstStyle/>
          <a:p>
            <a:pPr algn="r" rtl="1"/>
            <a:r>
              <a:rPr lang="ar-SA" b="1" dirty="0" smtClean="0">
                <a:solidFill>
                  <a:srgbClr val="FF0000"/>
                </a:solidFill>
              </a:rPr>
              <a:t>2- تحديد أولويات المهام علي اساس التأثير والإلحاح :</a:t>
            </a:r>
            <a:r>
              <a:rPr lang="ar-SA" dirty="0" smtClean="0"/>
              <a:t/>
            </a:r>
            <a:br>
              <a:rPr lang="ar-SA" dirty="0" smtClean="0"/>
            </a:br>
            <a:r>
              <a:rPr lang="ar-SA" dirty="0" smtClean="0"/>
              <a:t>لايتم إنشاء جميع المهام علي قدم المساواة لبعضها تأثير أكبر علي العمل أو تكون أكثر حساسية للوقت من غيرها من خلال تحديد اولويات المهام بناء عل أهميتها وإلحاحها يمكن التأكد من أكمال المهام الأكثر أهمية أولاً ويمكن تحقيق ذلك من خلال استخدام أدوات ادارة المهام أو منهجيات ادارة المشاريع مثل </a:t>
            </a:r>
            <a:r>
              <a:rPr lang="ar-SA" b="1" dirty="0" smtClean="0">
                <a:solidFill>
                  <a:srgbClr val="FF0000"/>
                </a:solidFill>
              </a:rPr>
              <a:t>مصفوفة أيزنهاور </a:t>
            </a:r>
            <a:r>
              <a:rPr lang="ar-SA" dirty="0" smtClean="0"/>
              <a:t>. </a:t>
            </a:r>
            <a:endParaRPr lang="en-US" dirty="0"/>
          </a:p>
        </p:txBody>
      </p:sp>
    </p:spTree>
    <p:extLst>
      <p:ext uri="{BB962C8B-B14F-4D97-AF65-F5344CB8AC3E}">
        <p14:creationId xmlns:p14="http://schemas.microsoft.com/office/powerpoint/2010/main" val="2483322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839200" cy="6430962"/>
          </a:xfrm>
        </p:spPr>
        <p:txBody>
          <a:bodyPr/>
          <a:lstStyle/>
          <a:p>
            <a:pPr algn="r" rtl="1"/>
            <a:r>
              <a:rPr lang="ar-SA" b="1" dirty="0" smtClean="0">
                <a:solidFill>
                  <a:srgbClr val="FF0000"/>
                </a:solidFill>
              </a:rPr>
              <a:t>3- توحيد العمليات :</a:t>
            </a:r>
            <a:r>
              <a:rPr lang="ar-SA" dirty="0" smtClean="0"/>
              <a:t/>
            </a:r>
            <a:br>
              <a:rPr lang="ar-SA" dirty="0" smtClean="0"/>
            </a:br>
            <a:r>
              <a:rPr lang="ar-SA" dirty="0" smtClean="0"/>
              <a:t>توحيد العمليات يضمن الاتساق ويقلل من فرص الاخطاء أو سوء الفهم , عندما يتبع الجميع نفس مجموعة الارشادات يصبح من السهل تتبع التقدم وتحديد مجالات التحسين .</a:t>
            </a:r>
            <a:br>
              <a:rPr lang="ar-SA" dirty="0" smtClean="0"/>
            </a:br>
            <a:r>
              <a:rPr lang="ar-SA" b="1" dirty="0" smtClean="0">
                <a:solidFill>
                  <a:srgbClr val="FF0000"/>
                </a:solidFill>
              </a:rPr>
              <a:t>4- احتضان التكنولوجيا :</a:t>
            </a:r>
            <a:br>
              <a:rPr lang="ar-SA" b="1" dirty="0" smtClean="0">
                <a:solidFill>
                  <a:srgbClr val="FF0000"/>
                </a:solidFill>
              </a:rPr>
            </a:br>
            <a:r>
              <a:rPr lang="ar-SA" dirty="0"/>
              <a:t>تلعب التكنولوجيا دوراً حاسماً في تحسين سير العمل .</a:t>
            </a:r>
            <a:endParaRPr lang="en-US" dirty="0"/>
          </a:p>
        </p:txBody>
      </p:sp>
    </p:spTree>
    <p:extLst>
      <p:ext uri="{BB962C8B-B14F-4D97-AF65-F5344CB8AC3E}">
        <p14:creationId xmlns:p14="http://schemas.microsoft.com/office/powerpoint/2010/main" val="4055412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63000" cy="6430962"/>
          </a:xfrm>
        </p:spPr>
        <p:txBody>
          <a:bodyPr/>
          <a:lstStyle/>
          <a:p>
            <a:pPr algn="r" rtl="1"/>
            <a:r>
              <a:rPr lang="ar-SA" b="1" dirty="0" smtClean="0">
                <a:solidFill>
                  <a:srgbClr val="FF0000"/>
                </a:solidFill>
              </a:rPr>
              <a:t>5- المراقبة والتكيف بشكل مستمر : </a:t>
            </a:r>
            <a:r>
              <a:rPr lang="ar-SA" dirty="0" smtClean="0"/>
              <a:t/>
            </a:r>
            <a:br>
              <a:rPr lang="ar-SA" dirty="0" smtClean="0"/>
            </a:br>
            <a:r>
              <a:rPr lang="ar-SA" dirty="0" smtClean="0"/>
              <a:t>يعد تحسين سير العمل عملية مستمرة راقب بانتظام فعالية سير العمل الامثل وقم باجراء التعديلات اللازمة سب الحاجة .</a:t>
            </a:r>
            <a:endParaRPr lang="en-US" dirty="0"/>
          </a:p>
        </p:txBody>
      </p:sp>
    </p:spTree>
    <p:extLst>
      <p:ext uri="{BB962C8B-B14F-4D97-AF65-F5344CB8AC3E}">
        <p14:creationId xmlns:p14="http://schemas.microsoft.com/office/powerpoint/2010/main" val="2328756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819400"/>
            <a:ext cx="8229600" cy="1143000"/>
          </a:xfrm>
        </p:spPr>
        <p:txBody>
          <a:bodyPr>
            <a:noAutofit/>
          </a:bodyPr>
          <a:lstStyle/>
          <a:p>
            <a:r>
              <a:rPr lang="ar-SA" sz="9600" b="1" dirty="0">
                <a:latin typeface="Traditional Arabic" pitchFamily="18" charset="-78"/>
                <a:cs typeface="Traditional Arabic" pitchFamily="18" charset="-78"/>
              </a:rPr>
              <a:t>تحديات سير العمل </a:t>
            </a:r>
            <a:endParaRPr lang="en-US" sz="9600" b="1" dirty="0">
              <a:latin typeface="Traditional Arabic" pitchFamily="18" charset="-78"/>
              <a:cs typeface="Traditional Arabic" pitchFamily="18" charset="-78"/>
            </a:endParaRPr>
          </a:p>
        </p:txBody>
      </p:sp>
    </p:spTree>
    <p:extLst>
      <p:ext uri="{BB962C8B-B14F-4D97-AF65-F5344CB8AC3E}">
        <p14:creationId xmlns:p14="http://schemas.microsoft.com/office/powerpoint/2010/main" val="3160875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63000" cy="6430962"/>
          </a:xfrm>
        </p:spPr>
        <p:txBody>
          <a:bodyPr>
            <a:normAutofit fontScale="90000"/>
          </a:bodyPr>
          <a:lstStyle/>
          <a:p>
            <a:pPr algn="r" rtl="1"/>
            <a:r>
              <a:rPr lang="ar-SA" b="1" dirty="0" smtClean="0">
                <a:solidFill>
                  <a:srgbClr val="FF0000"/>
                </a:solidFill>
              </a:rPr>
              <a:t>مفهوم العمل :</a:t>
            </a:r>
            <a:r>
              <a:rPr lang="ar-SA" dirty="0" smtClean="0"/>
              <a:t/>
            </a:r>
            <a:br>
              <a:rPr lang="ar-SA" dirty="0" smtClean="0"/>
            </a:br>
            <a:r>
              <a:rPr lang="ar-SA" sz="3800" dirty="0" smtClean="0"/>
              <a:t>هو كل نشاط يقوم به الفرد في حال كان نشاط يتطلب مجهود فكري أو مجهود حركي أو الاثنين معا ,وذلك من أجل تحقيق غايات معينة إشباع حاجة فكرية أو مادية أو كلاهما ويم</a:t>
            </a:r>
            <a:r>
              <a:rPr lang="ar-SA" sz="3800" dirty="0"/>
              <a:t>ك</a:t>
            </a:r>
            <a:r>
              <a:rPr lang="ar-SA" sz="3800" dirty="0" smtClean="0"/>
              <a:t>ن أن نعبر عنه بانه مجهود مستمر ومتواصل لتحقيق المنفعة المادية والفكرية . </a:t>
            </a:r>
            <a:br>
              <a:rPr lang="ar-SA" sz="3800" dirty="0" smtClean="0"/>
            </a:br>
            <a:r>
              <a:rPr lang="ar-SA" b="1" dirty="0">
                <a:solidFill>
                  <a:srgbClr val="FF0000"/>
                </a:solidFill>
              </a:rPr>
              <a:t>تحديات العمل </a:t>
            </a:r>
            <a:r>
              <a:rPr lang="ar-SA" b="1" dirty="0" smtClean="0">
                <a:solidFill>
                  <a:srgbClr val="FF0000"/>
                </a:solidFill>
              </a:rPr>
              <a:t>:</a:t>
            </a:r>
            <a:br>
              <a:rPr lang="ar-SA" b="1" dirty="0" smtClean="0">
                <a:solidFill>
                  <a:srgbClr val="FF0000"/>
                </a:solidFill>
              </a:rPr>
            </a:br>
            <a:r>
              <a:rPr lang="ar-SA" sz="3800" dirty="0"/>
              <a:t>تعبر تحديات العمل عن تلك المصاعب أو المشاكل التي تواجه تقدم </a:t>
            </a:r>
            <a:r>
              <a:rPr lang="ar-SA" sz="3800" dirty="0" smtClean="0"/>
              <a:t>سير العمل </a:t>
            </a:r>
            <a:r>
              <a:rPr lang="ar-SA" sz="3800" dirty="0"/>
              <a:t>والتي يجب معالجتها دون أن </a:t>
            </a:r>
            <a:r>
              <a:rPr lang="ar-SA" sz="3800" dirty="0" smtClean="0"/>
              <a:t>تؤثر </a:t>
            </a:r>
            <a:r>
              <a:rPr lang="ar-SA" sz="3800" dirty="0"/>
              <a:t>سلبا علي حركته وتقدمه وايضا </a:t>
            </a:r>
            <a:r>
              <a:rPr lang="ar-SA" sz="3800" dirty="0" smtClean="0"/>
              <a:t>تعبرعن المتغيرات </a:t>
            </a:r>
            <a:r>
              <a:rPr lang="ar-SA" sz="3800" dirty="0"/>
              <a:t>التي تحدث علي بنية او هيكلية الاعمال نتيجة مؤثرات </a:t>
            </a:r>
            <a:r>
              <a:rPr lang="ar-SA" sz="3800" dirty="0" smtClean="0"/>
              <a:t>داخلية </a:t>
            </a:r>
            <a:r>
              <a:rPr lang="ar-SA" sz="3800" dirty="0"/>
              <a:t>أو خارجية في احد المجالات لتؤثر علي ادارة </a:t>
            </a:r>
            <a:r>
              <a:rPr lang="ar-SA" sz="3800" dirty="0" smtClean="0"/>
              <a:t>الموارد البشرية .</a:t>
            </a:r>
            <a:endParaRPr lang="en-US" sz="3800" dirty="0"/>
          </a:p>
        </p:txBody>
      </p:sp>
    </p:spTree>
    <p:extLst>
      <p:ext uri="{BB962C8B-B14F-4D97-AF65-F5344CB8AC3E}">
        <p14:creationId xmlns:p14="http://schemas.microsoft.com/office/powerpoint/2010/main" val="3117523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915400" cy="6430962"/>
          </a:xfrm>
        </p:spPr>
        <p:txBody>
          <a:bodyPr>
            <a:normAutofit fontScale="90000"/>
          </a:bodyPr>
          <a:lstStyle/>
          <a:p>
            <a:pPr algn="r" rtl="1"/>
            <a:r>
              <a:rPr lang="ar-SA" b="1" dirty="0" smtClean="0">
                <a:solidFill>
                  <a:srgbClr val="FF0000"/>
                </a:solidFill>
              </a:rPr>
              <a:t>أنماط تحديات العمل :</a:t>
            </a:r>
            <a:r>
              <a:rPr lang="ar-SA" dirty="0" smtClean="0"/>
              <a:t/>
            </a:r>
            <a:br>
              <a:rPr lang="ar-SA" dirty="0" smtClean="0"/>
            </a:br>
            <a:r>
              <a:rPr lang="ar-SA" sz="3800" dirty="0" smtClean="0"/>
              <a:t>أن التحديات التي تواجه الاعمال بشكل عام متعددة ويمكن تقسيمها تبعا لعدة أنماط منها :</a:t>
            </a:r>
            <a:br>
              <a:rPr lang="ar-SA" sz="3800" dirty="0" smtClean="0"/>
            </a:br>
            <a:r>
              <a:rPr lang="ar-SA" sz="3800" b="1" dirty="0" smtClean="0">
                <a:solidFill>
                  <a:srgbClr val="FF0000"/>
                </a:solidFill>
              </a:rPr>
              <a:t>1- التحديات المتعلقة بالموظفين :</a:t>
            </a:r>
            <a:r>
              <a:rPr lang="ar-SA" sz="3800" dirty="0" smtClean="0"/>
              <a:t/>
            </a:r>
            <a:br>
              <a:rPr lang="ar-SA" sz="3800" dirty="0" smtClean="0"/>
            </a:br>
            <a:r>
              <a:rPr lang="ar-SA" sz="3600" dirty="0" smtClean="0"/>
              <a:t>يجب أن تكون المرونة موجودة لدي الموظفين حتي يتمكن الموظف من تطوير مهاراته وأدواته لمواكبة التقدم وبذلك يتم مراعاة الوضع الاقتصادي الحالي ولمواجهة هذا النمط يجب أن نهتم باعداد برامج تنمية وتطوير للموارد البشرية </a:t>
            </a:r>
            <a:br>
              <a:rPr lang="ar-SA" sz="3600" dirty="0" smtClean="0"/>
            </a:br>
            <a:r>
              <a:rPr lang="ar-SA" sz="3600" b="1" dirty="0" smtClean="0">
                <a:solidFill>
                  <a:srgbClr val="FF0000"/>
                </a:solidFill>
              </a:rPr>
              <a:t>2- التحديات المتعلقة بسوق العمل :</a:t>
            </a:r>
            <a:r>
              <a:rPr lang="ar-SA" sz="3600" dirty="0" smtClean="0"/>
              <a:t/>
            </a:r>
            <a:br>
              <a:rPr lang="ar-SA" sz="3600" dirty="0" smtClean="0"/>
            </a:br>
            <a:r>
              <a:rPr lang="ar-SA" sz="3600" dirty="0" smtClean="0"/>
              <a:t>التغير المستمر في توجه سوق العمل يعتبر تحدي من تحديات العمل المفصلية لانه متغير باستمرار ويتوجب علينا معرفة اتجاهه واجراء الابحاث المستمرة لمعرفة التغير في هذا السوق من اجل قرارات الشركة او البنية التنظيمية للعمل .   </a:t>
            </a:r>
            <a:endParaRPr lang="en-US" sz="3600" dirty="0"/>
          </a:p>
        </p:txBody>
      </p:sp>
    </p:spTree>
    <p:extLst>
      <p:ext uri="{BB962C8B-B14F-4D97-AF65-F5344CB8AC3E}">
        <p14:creationId xmlns:p14="http://schemas.microsoft.com/office/powerpoint/2010/main" val="1142393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915400" cy="6430962"/>
          </a:xfrm>
        </p:spPr>
        <p:txBody>
          <a:bodyPr>
            <a:normAutofit fontScale="90000"/>
          </a:bodyPr>
          <a:lstStyle/>
          <a:p>
            <a:pPr algn="r" rtl="1"/>
            <a:r>
              <a:rPr lang="ar-SA" sz="3200" b="1" dirty="0" smtClean="0">
                <a:solidFill>
                  <a:srgbClr val="FF0000"/>
                </a:solidFill>
              </a:rPr>
              <a:t>3- التحديات المتعلقة بالتنافس بين الشركات وجذب العملاء :</a:t>
            </a:r>
            <a:r>
              <a:rPr lang="ar-SA" sz="3200" dirty="0" smtClean="0"/>
              <a:t/>
            </a:r>
            <a:br>
              <a:rPr lang="ar-SA" sz="3200" dirty="0" smtClean="0"/>
            </a:br>
            <a:r>
              <a:rPr lang="ar-SA" sz="3600" dirty="0" smtClean="0"/>
              <a:t>دائما السوق ملئ بالمنافسين الذين يسعون باقصي طاقاتهم لكسب رضا العميل وفي هذه الاجواء التنافسية لابد ان يتم طرح المنتجات ذات الجودة الاعلي وتقديم الاغراءات لذالك تعد القوة التنافسية احد أصعب تحديات العمل ولمواجهة هذا التحدي يجب أن تركز علي الطرق الممكنة لجذب العملاء . </a:t>
            </a:r>
            <a:r>
              <a:rPr lang="ar-SA" sz="3200" dirty="0" smtClean="0"/>
              <a:t/>
            </a:r>
            <a:br>
              <a:rPr lang="ar-SA" sz="3200" dirty="0" smtClean="0"/>
            </a:br>
            <a:r>
              <a:rPr lang="ar-SA" sz="3200" b="1" dirty="0" smtClean="0">
                <a:solidFill>
                  <a:srgbClr val="FF0000"/>
                </a:solidFill>
              </a:rPr>
              <a:t>4- التحديات المتعلقة بأنماط الادارة والموارد البشرية :</a:t>
            </a:r>
            <a:r>
              <a:rPr lang="ar-SA" sz="3200" dirty="0" smtClean="0"/>
              <a:t/>
            </a:r>
            <a:br>
              <a:rPr lang="ar-SA" sz="3200" dirty="0" smtClean="0"/>
            </a:br>
            <a:r>
              <a:rPr lang="ar-SA" sz="3600" dirty="0" smtClean="0"/>
              <a:t>لابد للمؤسسات والشركات أن تطور من طرق وأساليب ادارتها للاعمال مثل الحرص علي الابتعاد عن المركزية الشديدة والتوجه للعمل ضمن فرق من أجل الاستفادة من الكادر وخبرة وتجربة كل فرد فيه كما يجب مراعاة التنوع الموجود في الموارد البشرية من حيث العمر او الجنسيات وخلق منظومة عمل مريحة وايضا ( التسويق الالكتروني ).</a:t>
            </a:r>
            <a:endParaRPr lang="en-US" sz="3600" dirty="0"/>
          </a:p>
        </p:txBody>
      </p:sp>
    </p:spTree>
    <p:extLst>
      <p:ext uri="{BB962C8B-B14F-4D97-AF65-F5344CB8AC3E}">
        <p14:creationId xmlns:p14="http://schemas.microsoft.com/office/powerpoint/2010/main" val="3642153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54762"/>
          </a:xfrm>
        </p:spPr>
        <p:txBody>
          <a:bodyPr>
            <a:normAutofit/>
          </a:bodyPr>
          <a:lstStyle/>
          <a:p>
            <a:pPr algn="r" rtl="1"/>
            <a:r>
              <a:rPr lang="ar-SA" sz="4000" b="1" dirty="0" smtClean="0"/>
              <a:t>استراتيجيات متبعة في مواجهة تحديات العمل : </a:t>
            </a:r>
            <a:br>
              <a:rPr lang="ar-SA" sz="4000" b="1" dirty="0" smtClean="0"/>
            </a:br>
            <a:r>
              <a:rPr lang="ar-SA" sz="4000" b="1" dirty="0" smtClean="0">
                <a:solidFill>
                  <a:srgbClr val="FF0000"/>
                </a:solidFill>
              </a:rPr>
              <a:t>1- معرفة المشكلة :</a:t>
            </a:r>
            <a:r>
              <a:rPr lang="ar-SA" sz="4000" b="1" dirty="0" smtClean="0"/>
              <a:t/>
            </a:r>
            <a:br>
              <a:rPr lang="ar-SA" sz="4000" b="1" dirty="0" smtClean="0"/>
            </a:br>
            <a:r>
              <a:rPr lang="ar-SA" sz="3200" dirty="0"/>
              <a:t>ذلك يفيد في تحليل المشكلة والتعرف عليها ووضعها ضمن حجمها الاصلي دون المبالغة أو الإقلال من أهميتها وتعتبر الخطوة الأولي </a:t>
            </a:r>
            <a:r>
              <a:rPr lang="ar-SA" sz="3200" dirty="0" smtClean="0"/>
              <a:t>.</a:t>
            </a:r>
            <a:br>
              <a:rPr lang="ar-SA" sz="3200" dirty="0" smtClean="0"/>
            </a:br>
            <a:r>
              <a:rPr lang="ar-SA" sz="3200" b="1" dirty="0" smtClean="0">
                <a:solidFill>
                  <a:srgbClr val="FF0000"/>
                </a:solidFill>
              </a:rPr>
              <a:t>2- تقسيم المشكلة الي اجزاء :</a:t>
            </a:r>
            <a:r>
              <a:rPr lang="ar-SA" sz="3200" dirty="0" smtClean="0"/>
              <a:t/>
            </a:r>
            <a:br>
              <a:rPr lang="ar-SA" sz="3200" dirty="0" smtClean="0"/>
            </a:br>
            <a:r>
              <a:rPr lang="ar-SA" sz="3200" dirty="0" smtClean="0"/>
              <a:t>وهي تحديد أجزاء التحدي وتقسيمه الي مراحل لتمكن من التفكير بحلول تدريجية </a:t>
            </a:r>
            <a:br>
              <a:rPr lang="ar-SA" sz="3200" dirty="0" smtClean="0"/>
            </a:br>
            <a:r>
              <a:rPr lang="ar-SA" sz="3200" dirty="0" smtClean="0"/>
              <a:t>3</a:t>
            </a:r>
            <a:r>
              <a:rPr lang="ar-SA" sz="3200" b="1" dirty="0" smtClean="0">
                <a:solidFill>
                  <a:srgbClr val="FF0000"/>
                </a:solidFill>
              </a:rPr>
              <a:t>- التعرف علي الحلول وتنفيذها :</a:t>
            </a:r>
            <a:r>
              <a:rPr lang="ar-SA" sz="3200" dirty="0" smtClean="0"/>
              <a:t/>
            </a:r>
            <a:br>
              <a:rPr lang="ar-SA" sz="3200" dirty="0" smtClean="0"/>
            </a:br>
            <a:r>
              <a:rPr lang="ar-SA" sz="3200" dirty="0" smtClean="0"/>
              <a:t>تكون بوضع الحلول الممكنة لمواجهة التحدي ويمكن ان تكون بسيطة تبدأ بالثقة بالنفس أو حتي طلب المساعدة .  </a:t>
            </a:r>
            <a:endParaRPr lang="en-US" sz="3200" dirty="0"/>
          </a:p>
        </p:txBody>
      </p:sp>
    </p:spTree>
    <p:extLst>
      <p:ext uri="{BB962C8B-B14F-4D97-AF65-F5344CB8AC3E}">
        <p14:creationId xmlns:p14="http://schemas.microsoft.com/office/powerpoint/2010/main" val="58955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179</Words>
  <Application>Microsoft Office PowerPoint</Application>
  <PresentationFormat>On-screen Show (4:3)</PresentationFormat>
  <Paragraphs>17</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أدارة معالجة الأعمال </vt:lpstr>
      <vt:lpstr>مفهوم سير العمل </vt:lpstr>
      <vt:lpstr>تعرف إدارة سير الاعمال بانها الطريقة التي يقوم بها صانعو القرار داخل المؤسسات بتحديد مسارات المعاملات وتوجيه المهام وتعيين المسؤوليات وتحديد بداية وإنتهاء العمليات , ومايجعل إدارة سير العمل شئ أساسي هو التحكم في المواعيد وتنفيذ المهام المرتبطة بسلاسة وفقاً لبرنامج محدد فمن خلال نظام إدارة المستندات وبرنامج سير الاعمال , يمكن أن تكون مواعيد سير العمل هي القوة الدافعة لتنفيذ المهام بشكل فعال   .</vt:lpstr>
      <vt:lpstr>سير العمل هو في الاساس سلسلة من المهام أو الأنشطة أو العمليات التي يتم تنظيمها وتنفيذها بترتيب معين لتحقيق هدف أو نتيجة معينة . يتم أستخدام سير العمل بشكل شائع في مختلف المجالات والصناعات لتبسيط العمليات المعقدة وتحسينها فهي تساعد في ضمان أستمرارية المؤسسة . </vt:lpstr>
      <vt:lpstr>فيما يلي بعض الخصائص والمكونات الأساسية لمعظم عمليات سير العمل . الثلاثة التالية ضرورية للغاية – لا يوجد حرفياً سير عمل من دونها : 1- خطوات متسلسلة : تتضمن مهام سير العمل سلسلة من الخطوات أو الإجراءات التي يتم تنفيذها بترتيب محدد مسبقاً . تعتمد كل خطوةعادة علي إكمال الخطوة السابقة بنجاح .    </vt:lpstr>
      <vt:lpstr>2- مدخلات ومخرجات : تحتوي مسارات العمل علي مدخلات (مثل البيانات أو المعلومات أو المواد ) ومخرجات (النتائج أو المنتجات ) , يتم تحويل هذه المدخلات أو معالجتها أثناء سير العمل لإنتاج المخرجات المطلوبة .  3- القواعد والشروط :   قد يتضمن سير العمل قواعد أو شروط أو نقاط قرار توجه سير العمل , تحدد هذه القواعد المسار الذي يتبعه سير العمل بناءً علي معايير محددة .</vt:lpstr>
      <vt:lpstr>ستخطو عمليات سير العمل المصممة جيداً خططوة الي الامام وستحتوي ايضاً علي مايلي : 4- الأدوار والمسؤوليات المحددة : غالباً سيقوم سير العمل بتعيين أدوار أو مسؤوليات محددة للأفراد أو الفرق المشاركة في العملية , وهذا يساعد في توضيح من المسؤول عن ماذا . 5- الأتمتة : في السياقات الحديثة غالباً ماتتم أتمتة سير العمل باستخدام أدوات وأنظمة برمجية , يمكن أن تساعد أتمتة في تقليل التدخل اليدوي وتسريع العمليات .  </vt:lpstr>
      <vt:lpstr>6- المراقبة والتتبع : تتضمن عمليات سير العمل غالباً اليات لرصد وتتبع التقدم , مما يسمح بقياس الأداء وتحسينه . يمكن للمرء استخدام أدوات تصور بسيطة مثل المخطات الانسيابية أو خرائط العمليات لتصميم سير العمل وتصميم العلاقات بين الخطوات المختلفة في التدفق .   يمكن أن تختلف سير العمل من حيث التعقيد والحجم , يتم أستخدامها في مجموعة واسعة من التطبيقات بدءاً من العمليات التجارية مثل ادارة العملاء المتوقعين وتأهيل العملاء ومعالجة الطالبات وحتي العمليات الابداعية مثل أنتاج المحتوي وادارة المحتوي .</vt:lpstr>
      <vt:lpstr>فهم أهمية تحسين سير العمل : الكفاءة هي العامل الرئيسي في اي شركة فهو لايساعد فقط في توفير الوقت والموارد ولكنه يضمن حسن سير العمليات , عندما يتعلق الامر بادارة سير العمل يلعب التحسين دوراً حاسماً في تحقيق نجاح خالي من الاعمال المتراكمة . العناصر الاساسية لتحسين سير العمل :  1- تحديد الاحتناقات والقضاء عليها : من خلال تحليل سير العمل حدد أي خطوات أو عمليات تؤدي الي ابطاء التقدم العام ابحث عن المهام التي تسبب تأخيرات أو تبعيات تعيق تدفق العمل .</vt:lpstr>
      <vt:lpstr>2- تحديد أولويات المهام علي اساس التأثير والإلحاح : لايتم إنشاء جميع المهام علي قدم المساواة لبعضها تأثير أكبر علي العمل أو تكون أكثر حساسية للوقت من غيرها من خلال تحديد اولويات المهام بناء عل أهميتها وإلحاحها يمكن التأكد من أكمال المهام الأكثر أهمية أولاً ويمكن تحقيق ذلك من خلال استخدام أدوات ادارة المهام أو منهجيات ادارة المشاريع مثل مصفوفة أيزنهاور . </vt:lpstr>
      <vt:lpstr>3- توحيد العمليات : توحيد العمليات يضمن الاتساق ويقلل من فرص الاخطاء أو سوء الفهم , عندما يتبع الجميع نفس مجموعة الارشادات يصبح من السهل تتبع التقدم وتحديد مجالات التحسين . 4- احتضان التكنولوجيا : تلعب التكنولوجيا دوراً حاسماً في تحسين سير العمل .</vt:lpstr>
      <vt:lpstr>5- المراقبة والتكيف بشكل مستمر :  يعد تحسين سير العمل عملية مستمرة راقب بانتظام فعالية سير العمل الامثل وقم باجراء التعديلات اللازمة سب الحاجة .</vt:lpstr>
      <vt:lpstr>تحديات سير العمل </vt:lpstr>
      <vt:lpstr>مفهوم العمل : هو كل نشاط يقوم به الفرد في حال كان نشاط يتطلب مجهود فكري أو مجهود حركي أو الاثنين معا ,وذلك من أجل تحقيق غايات معينة إشباع حاجة فكرية أو مادية أو كلاهما ويمكن أن نعبر عنه بانه مجهود مستمر ومتواصل لتحقيق المنفعة المادية والفكرية .  تحديات العمل : تعبر تحديات العمل عن تلك المصاعب أو المشاكل التي تواجه تقدم سير العمل والتي يجب معالجتها دون أن تؤثر سلبا علي حركته وتقدمه وايضا تعبرعن المتغيرات التي تحدث علي بنية او هيكلية الاعمال نتيجة مؤثرات داخلية أو خارجية في احد المجالات لتؤثر علي ادارة الموارد البشرية .</vt:lpstr>
      <vt:lpstr>أنماط تحديات العمل : أن التحديات التي تواجه الاعمال بشكل عام متعددة ويمكن تقسيمها تبعا لعدة أنماط منها : 1- التحديات المتعلقة بالموظفين : يجب أن تكون المرونة موجودة لدي الموظفين حتي يتمكن الموظف من تطوير مهاراته وأدواته لمواكبة التقدم وبذلك يتم مراعاة الوضع الاقتصادي الحالي ولمواجهة هذا النمط يجب أن نهتم باعداد برامج تنمية وتطوير للموارد البشرية  2- التحديات المتعلقة بسوق العمل : التغير المستمر في توجه سوق العمل يعتبر تحدي من تحديات العمل المفصلية لانه متغير باستمرار ويتوجب علينا معرفة اتجاهه واجراء الابحاث المستمرة لمعرفة التغير في هذا السوق من اجل قرارات الشركة او البنية التنظيمية للعمل .   </vt:lpstr>
      <vt:lpstr>3- التحديات المتعلقة بالتنافس بين الشركات وجذب العملاء : دائما السوق ملئ بالمنافسين الذين يسعون باقصي طاقاتهم لكسب رضا العميل وفي هذه الاجواء التنافسية لابد ان يتم طرح المنتجات ذات الجودة الاعلي وتقديم الاغراءات لذالك تعد القوة التنافسية احد أصعب تحديات العمل ولمواجهة هذا التحدي يجب أن تركز علي الطرق الممكنة لجذب العملاء .  4- التحديات المتعلقة بأنماط الادارة والموارد البشرية : لابد للمؤسسات والشركات أن تطور من طرق وأساليب ادارتها للاعمال مثل الحرص علي الابتعاد عن المركزية الشديدة والتوجه للعمل ضمن فرق من أجل الاستفادة من الكادر وخبرة وتجربة كل فرد فيه كما يجب مراعاة التنوع الموجود في الموارد البشرية من حيث العمر او الجنسيات وخلق منظومة عمل مريحة وايضا ( التسويق الالكتروني ).</vt:lpstr>
      <vt:lpstr>استراتيجيات متبعة في مواجهة تحديات العمل :  1- معرفة المشكلة : ذلك يفيد في تحليل المشكلة والتعرف عليها ووضعها ضمن حجمها الاصلي دون المبالغة أو الإقلال من أهميتها وتعتبر الخطوة الأولي . 2- تقسيم المشكلة الي اجزاء : وهي تحديد أجزاء التحدي وتقسيمه الي مراحل لتمكن من التفكير بحلول تدريجية  3- التعرف علي الحلول وتنفيذها : تكون بوضع الحلول الممكنة لمواجهة التحدي ويمكن ان تكون بسيطة تبدأ بالثقة بالنفس أو حتي طلب المساعدة .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أدارة معالجة الأعمال </dc:title>
  <dc:creator>MOATSEM</dc:creator>
  <cp:lastModifiedBy>MOATSEM</cp:lastModifiedBy>
  <cp:revision>95</cp:revision>
  <dcterms:created xsi:type="dcterms:W3CDTF">2006-08-16T00:00:00Z</dcterms:created>
  <dcterms:modified xsi:type="dcterms:W3CDTF">2008-03-09T22:29:20Z</dcterms:modified>
</cp:coreProperties>
</file>