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1386"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11/3/2025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590800"/>
            <a:ext cx="8229600" cy="1143000"/>
          </a:xfrm>
        </p:spPr>
        <p:txBody>
          <a:bodyPr>
            <a:normAutofit/>
          </a:bodyPr>
          <a:lstStyle/>
          <a:p>
            <a:r>
              <a:rPr lang="ar-SA" sz="6600" b="1" dirty="0" smtClean="0"/>
              <a:t>مخططات سير العمل </a:t>
            </a:r>
            <a:endParaRPr lang="en-US" sz="6600" b="1" dirty="0"/>
          </a:p>
        </p:txBody>
      </p:sp>
    </p:spTree>
    <p:extLst>
      <p:ext uri="{BB962C8B-B14F-4D97-AF65-F5344CB8AC3E}">
        <p14:creationId xmlns:p14="http://schemas.microsoft.com/office/powerpoint/2010/main" val="22773383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8686800" cy="6430962"/>
          </a:xfrm>
        </p:spPr>
        <p:txBody>
          <a:bodyPr>
            <a:normAutofit/>
          </a:bodyPr>
          <a:lstStyle/>
          <a:p>
            <a:pPr algn="r" rtl="1"/>
            <a:r>
              <a:rPr lang="ar-SA" sz="4000" dirty="0" smtClean="0"/>
              <a:t>أصبحت مخططات سير العمل شائعة بشكل متزايد في عالم الاعمال وقد تم تنفيذها في العديد من القطاعات للمساعدة في عملية توثيق العمليات وتوضيحها ومن </a:t>
            </a:r>
            <a:r>
              <a:rPr lang="ar-SA" sz="4000" b="1" dirty="0" smtClean="0">
                <a:solidFill>
                  <a:srgbClr val="FF0000"/>
                </a:solidFill>
              </a:rPr>
              <a:t>مزايا إنشاء مخططات سير العمل وتنفيذها :</a:t>
            </a:r>
            <a:r>
              <a:rPr lang="ar-SA" sz="4000" dirty="0" smtClean="0"/>
              <a:t/>
            </a:r>
            <a:br>
              <a:rPr lang="ar-SA" sz="4000" dirty="0" smtClean="0"/>
            </a:br>
            <a:r>
              <a:rPr lang="ar-SA" sz="4000" b="1" dirty="0" smtClean="0"/>
              <a:t>1- الحصول علي نظرة مرئية للعملية :</a:t>
            </a:r>
            <a:r>
              <a:rPr lang="ar-SA" sz="4000" dirty="0" smtClean="0"/>
              <a:t/>
            </a:r>
            <a:br>
              <a:rPr lang="ar-SA" sz="4000" dirty="0" smtClean="0"/>
            </a:br>
            <a:r>
              <a:rPr lang="ar-SA" sz="4000" dirty="0" smtClean="0"/>
              <a:t>معظم البشر بصريون خاصة عند التعامل مع مواضيع مجردة ومعقدة تكمن روعة مخطط سير العمل في بساطته ان تخطيط عملية باستخدام الاشكال والالوان والرموز يجعل فهم العمليات والاجراءات المعقدة اسهل بكثير . </a:t>
            </a:r>
            <a:endParaRPr lang="en-US" sz="4000" dirty="0"/>
          </a:p>
        </p:txBody>
      </p:sp>
    </p:spTree>
    <p:extLst>
      <p:ext uri="{BB962C8B-B14F-4D97-AF65-F5344CB8AC3E}">
        <p14:creationId xmlns:p14="http://schemas.microsoft.com/office/powerpoint/2010/main" val="16217952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274638"/>
            <a:ext cx="8686800" cy="6354762"/>
          </a:xfrm>
        </p:spPr>
        <p:txBody>
          <a:bodyPr/>
          <a:lstStyle/>
          <a:p>
            <a:pPr algn="r" rtl="1"/>
            <a:r>
              <a:rPr lang="ar-SA" b="1" dirty="0" smtClean="0">
                <a:solidFill>
                  <a:srgbClr val="FF0000"/>
                </a:solidFill>
              </a:rPr>
              <a:t>2- تحسين الكفاءة :</a:t>
            </a:r>
            <a:r>
              <a:rPr lang="ar-SA" b="1" dirty="0" smtClean="0"/>
              <a:t/>
            </a:r>
            <a:br>
              <a:rPr lang="ar-SA" b="1" dirty="0" smtClean="0"/>
            </a:br>
            <a:r>
              <a:rPr lang="ar-SA" sz="3600" dirty="0" smtClean="0"/>
              <a:t>تضمن مخططات سير العمل ان يفهم كل فرد داخل الفريق الخطوات التي يتعين عليه اتخاذها ضمن التسلسل . هذا النوع من فهم « الصورة الاكبر « يحسن الكفاءة ويساعد اعضاء الفريق علي اكمال العمليات . </a:t>
            </a:r>
            <a:br>
              <a:rPr lang="ar-SA" sz="3600" dirty="0" smtClean="0"/>
            </a:br>
            <a:r>
              <a:rPr lang="ar-SA" sz="3600" b="1" dirty="0" smtClean="0">
                <a:solidFill>
                  <a:srgbClr val="FF0000"/>
                </a:solidFill>
              </a:rPr>
              <a:t>3- التواصل :</a:t>
            </a:r>
            <a:r>
              <a:rPr lang="ar-SA" sz="3600" b="1" dirty="0" smtClean="0"/>
              <a:t/>
            </a:r>
            <a:br>
              <a:rPr lang="ar-SA" sz="3600" b="1" dirty="0" smtClean="0"/>
            </a:br>
            <a:r>
              <a:rPr lang="ar-SA" sz="3600" dirty="0"/>
              <a:t>تصبح مخططات سير العمل جزءاً من عملية التوثيق التي تضمن الشفافية والتواصل داخل الفريق وباستخدام الرموز والاشكال والتعريفات تعتبر طريقة فعالة من اجل توصيل فكرة ما قد يكون من الصعب مناقشتها شفهياً </a:t>
            </a:r>
            <a:r>
              <a:rPr lang="ar-SA" sz="3600" dirty="0" smtClean="0"/>
              <a:t>.</a:t>
            </a:r>
            <a:endParaRPr lang="en-US" sz="3600" dirty="0"/>
          </a:p>
        </p:txBody>
      </p:sp>
    </p:spTree>
    <p:extLst>
      <p:ext uri="{BB962C8B-B14F-4D97-AF65-F5344CB8AC3E}">
        <p14:creationId xmlns:p14="http://schemas.microsoft.com/office/powerpoint/2010/main" val="34378068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8686800" cy="6354762"/>
          </a:xfrm>
        </p:spPr>
        <p:txBody>
          <a:bodyPr/>
          <a:lstStyle/>
          <a:p>
            <a:pPr algn="r" rtl="1"/>
            <a:r>
              <a:rPr lang="ar-SA" sz="4000" b="1" dirty="0" smtClean="0">
                <a:solidFill>
                  <a:srgbClr val="FF0000"/>
                </a:solidFill>
              </a:rPr>
              <a:t>4- التعرف علي الافراد ومسؤولياتهم :</a:t>
            </a:r>
            <a:r>
              <a:rPr lang="ar-SA" dirty="0" smtClean="0"/>
              <a:t/>
            </a:r>
            <a:br>
              <a:rPr lang="ar-SA" dirty="0" smtClean="0"/>
            </a:br>
            <a:r>
              <a:rPr lang="ar-SA" sz="3600" dirty="0" smtClean="0"/>
              <a:t>يساعد المخطط في تصور عملية سير العمل من وجهة نظر تنازلية وبعد تحليل مخطط سير العمل سيعرف الجميع من يؤدي هذا الدور دون غيره وذلك يعزز المساءلة وفهم الكيفية التي ينسجم بها كل عضو في الفريق .</a:t>
            </a:r>
            <a:r>
              <a:rPr lang="en-US" sz="3600" dirty="0" smtClean="0"/>
              <a:t/>
            </a:r>
            <a:br>
              <a:rPr lang="en-US" sz="3600" dirty="0" smtClean="0"/>
            </a:br>
            <a:r>
              <a:rPr lang="ar-SA" sz="4000" b="1" dirty="0">
                <a:solidFill>
                  <a:srgbClr val="FF0000"/>
                </a:solidFill>
              </a:rPr>
              <a:t>5- تحديد العراقيل وطرق تحسين عمليات الشركة:</a:t>
            </a:r>
            <a:br>
              <a:rPr lang="ar-SA" sz="4000" b="1" dirty="0">
                <a:solidFill>
                  <a:srgbClr val="FF0000"/>
                </a:solidFill>
              </a:rPr>
            </a:br>
            <a:r>
              <a:rPr lang="ar-SA" sz="3600" dirty="0" smtClean="0"/>
              <a:t>كما يمكن استخدام مخطط سير العمل في تتبع التقدم فانه يمكن استخدامه ايضا في فهم الموضع الذي سينهار فيه التقدم.   </a:t>
            </a:r>
            <a:endParaRPr lang="en-US" sz="3600" dirty="0"/>
          </a:p>
        </p:txBody>
      </p:sp>
    </p:spTree>
    <p:extLst>
      <p:ext uri="{BB962C8B-B14F-4D97-AF65-F5344CB8AC3E}">
        <p14:creationId xmlns:p14="http://schemas.microsoft.com/office/powerpoint/2010/main" val="4352615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274638"/>
            <a:ext cx="8839200" cy="6354762"/>
          </a:xfrm>
        </p:spPr>
        <p:txBody>
          <a:bodyPr/>
          <a:lstStyle/>
          <a:p>
            <a:pPr algn="r" rtl="1"/>
            <a:r>
              <a:rPr lang="ar-SA" b="1" dirty="0" smtClean="0">
                <a:solidFill>
                  <a:srgbClr val="FF0000"/>
                </a:solidFill>
              </a:rPr>
              <a:t>متي يستخدم مخطط سير العمل :</a:t>
            </a:r>
            <a:r>
              <a:rPr lang="ar-SA" dirty="0" smtClean="0"/>
              <a:t/>
            </a:r>
            <a:br>
              <a:rPr lang="ar-SA" dirty="0" smtClean="0"/>
            </a:br>
            <a:r>
              <a:rPr lang="ar-SA" b="1" dirty="0" smtClean="0">
                <a:solidFill>
                  <a:srgbClr val="FF0000"/>
                </a:solidFill>
              </a:rPr>
              <a:t>1- تطوير البرمجيات :</a:t>
            </a:r>
            <a:r>
              <a:rPr lang="ar-SA" dirty="0" smtClean="0"/>
              <a:t/>
            </a:r>
            <a:br>
              <a:rPr lang="ar-SA" dirty="0" smtClean="0"/>
            </a:br>
            <a:r>
              <a:rPr lang="ar-SA" sz="3600" dirty="0"/>
              <a:t>يستخدم في العديد من عمليات البرمجيات ويمكن أن يسهل أيضاً تتبع تقدم تطوير البرمجيات . </a:t>
            </a:r>
            <a:r>
              <a:rPr lang="ar-SA" sz="3600" dirty="0" smtClean="0"/>
              <a:t/>
            </a:r>
            <a:br>
              <a:rPr lang="ar-SA" sz="3600" dirty="0" smtClean="0"/>
            </a:br>
            <a:r>
              <a:rPr lang="ar-SA" sz="3600" b="1" dirty="0" smtClean="0">
                <a:solidFill>
                  <a:srgbClr val="FF0000"/>
                </a:solidFill>
              </a:rPr>
              <a:t>2- التجارة الالكترونية :</a:t>
            </a:r>
            <a:r>
              <a:rPr lang="ar-SA" sz="3600" dirty="0" smtClean="0"/>
              <a:t/>
            </a:r>
            <a:br>
              <a:rPr lang="ar-SA" sz="3600" dirty="0" smtClean="0"/>
            </a:br>
            <a:r>
              <a:rPr lang="ar-SA" sz="3600" dirty="0" smtClean="0"/>
              <a:t>يمكن لمخطط سير العمل أن يمثل في عالم التجارة الالكترونية عميلاً يتصفح متجراً عبر الانترنت بحيث يمكن أن يساعد ذالك علي أن يفهموا بشكل أفضل كيفية توجيه العملاء من خلال الخطوات التي يحتاجون الي اتخاذها لشراء منتج أو استئجار خدمة .</a:t>
            </a:r>
            <a:endParaRPr lang="en-US" sz="3600" dirty="0"/>
          </a:p>
        </p:txBody>
      </p:sp>
    </p:spTree>
    <p:extLst>
      <p:ext uri="{BB962C8B-B14F-4D97-AF65-F5344CB8AC3E}">
        <p14:creationId xmlns:p14="http://schemas.microsoft.com/office/powerpoint/2010/main" val="14239163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74638"/>
            <a:ext cx="8610600" cy="6354762"/>
          </a:xfrm>
        </p:spPr>
        <p:txBody>
          <a:bodyPr/>
          <a:lstStyle/>
          <a:p>
            <a:pPr algn="r" rtl="1"/>
            <a:r>
              <a:rPr lang="ar-SA" dirty="0" smtClean="0">
                <a:solidFill>
                  <a:srgbClr val="FF0000"/>
                </a:solidFill>
              </a:rPr>
              <a:t>3-</a:t>
            </a:r>
            <a:r>
              <a:rPr lang="ar-SA" dirty="0" smtClean="0"/>
              <a:t> </a:t>
            </a:r>
            <a:r>
              <a:rPr lang="ar-SA" b="1" dirty="0" smtClean="0">
                <a:solidFill>
                  <a:srgbClr val="FF0000"/>
                </a:solidFill>
              </a:rPr>
              <a:t>التصنيع :</a:t>
            </a:r>
            <a:r>
              <a:rPr lang="ar-SA" dirty="0" smtClean="0"/>
              <a:t/>
            </a:r>
            <a:br>
              <a:rPr lang="ar-SA" dirty="0" smtClean="0"/>
            </a:br>
            <a:r>
              <a:rPr lang="ar-SA" sz="3600" dirty="0"/>
              <a:t>تم استخدام مخططات سير العمل في الاصل في الصناعة التحويلية وهي توضح تسلسل الخطوات التي يتعين علي فرق </a:t>
            </a:r>
            <a:r>
              <a:rPr lang="ar-SA" sz="3600" dirty="0" smtClean="0"/>
              <a:t>التصنيع </a:t>
            </a:r>
            <a:r>
              <a:rPr lang="ar-SA" sz="3600" dirty="0"/>
              <a:t>اتخاذها لانشاء منتجات متسقة وعالية الجودة </a:t>
            </a:r>
            <a:r>
              <a:rPr lang="ar-SA" sz="3600" dirty="0" smtClean="0"/>
              <a:t>.</a:t>
            </a:r>
            <a:br>
              <a:rPr lang="ar-SA" sz="3600" dirty="0" smtClean="0"/>
            </a:br>
            <a:r>
              <a:rPr lang="ar-SA" sz="3600" b="1" dirty="0" smtClean="0">
                <a:solidFill>
                  <a:srgbClr val="FF0000"/>
                </a:solidFill>
              </a:rPr>
              <a:t>4- المجال الطبي :  </a:t>
            </a:r>
            <a:br>
              <a:rPr lang="ar-SA" sz="3600" b="1" dirty="0" smtClean="0">
                <a:solidFill>
                  <a:srgbClr val="FF0000"/>
                </a:solidFill>
              </a:rPr>
            </a:br>
            <a:r>
              <a:rPr lang="ar-SA" sz="3600" dirty="0"/>
              <a:t>يمكن تخطيط الاجراءات الطبية بسهولة وفقاً لتسلسل خطي من الخطوات.   </a:t>
            </a:r>
            <a:r>
              <a:rPr lang="ar-SA" sz="3600" dirty="0" smtClean="0"/>
              <a:t>يمكن أن تكون مخططات سير العمل ذات جدوي في وضع عملية موحدة يمكن لمزاولي المهن الطبية اتباعها عند اجراء العملية الجراحية .</a:t>
            </a:r>
            <a:endParaRPr lang="en-US" sz="3600" dirty="0"/>
          </a:p>
        </p:txBody>
      </p:sp>
    </p:spTree>
    <p:extLst>
      <p:ext uri="{BB962C8B-B14F-4D97-AF65-F5344CB8AC3E}">
        <p14:creationId xmlns:p14="http://schemas.microsoft.com/office/powerpoint/2010/main" val="5264720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274638"/>
            <a:ext cx="8839200" cy="6430962"/>
          </a:xfrm>
        </p:spPr>
        <p:txBody>
          <a:bodyPr>
            <a:normAutofit fontScale="90000"/>
          </a:bodyPr>
          <a:lstStyle/>
          <a:p>
            <a:pPr algn="r" rtl="1"/>
            <a:r>
              <a:rPr lang="ar-SA" b="1" dirty="0" smtClean="0">
                <a:solidFill>
                  <a:srgbClr val="FF0000"/>
                </a:solidFill>
              </a:rPr>
              <a:t>أنواع مخططات سير العمل :</a:t>
            </a:r>
            <a:r>
              <a:rPr lang="ar-SA" dirty="0" smtClean="0"/>
              <a:t/>
            </a:r>
            <a:br>
              <a:rPr lang="ar-SA" dirty="0" smtClean="0"/>
            </a:br>
            <a:r>
              <a:rPr lang="ar-SA" sz="3600" dirty="0"/>
              <a:t>قد تتخذ مخططات سير العمل العديد من الاشكال المختلفة وتؤدي مختلف أنواع هذه المخططات وظائف متنوعة ويأتي كل منها مصحوباً بوسيلة إيضاح مخطط سير العمل الخاصة به مع استخدامات ورموز محددة وفيما يلي بعض أنواع مخططات سير العمل الأكثر شيوعاً :   </a:t>
            </a:r>
            <a:r>
              <a:rPr lang="ar-SA" sz="3600" dirty="0" smtClean="0"/>
              <a:t/>
            </a:r>
            <a:br>
              <a:rPr lang="ar-SA" sz="3600" dirty="0" smtClean="0"/>
            </a:br>
            <a:r>
              <a:rPr lang="ar-SA" sz="3600" b="1" dirty="0" smtClean="0">
                <a:solidFill>
                  <a:srgbClr val="FF0000"/>
                </a:solidFill>
              </a:rPr>
              <a:t>1- المخطط الانسيابي : </a:t>
            </a:r>
            <a:br>
              <a:rPr lang="ar-SA" sz="3600" b="1" dirty="0" smtClean="0">
                <a:solidFill>
                  <a:srgbClr val="FF0000"/>
                </a:solidFill>
              </a:rPr>
            </a:br>
            <a:r>
              <a:rPr lang="ar-SA" sz="3600" dirty="0"/>
              <a:t>يتكون من أشكال ورموز مختلفة كل منها يصور خطوة مختلفة ضمن تسلسل أو عملية تمثل هذه الاشكال عناصر مختلفة لسير العمل  مثل الاجراءات والمواد والخدمات والمدخلات والمخرجات حيث يمكن لاستخدام المخطط الانسيابي لتوضيح سير العمل أن يساعد علي تصور كيفية تدفق المهام بين الموارد .  </a:t>
            </a:r>
            <a:endParaRPr lang="en-US" sz="3600" dirty="0"/>
          </a:p>
        </p:txBody>
      </p:sp>
    </p:spTree>
    <p:extLst>
      <p:ext uri="{BB962C8B-B14F-4D97-AF65-F5344CB8AC3E}">
        <p14:creationId xmlns:p14="http://schemas.microsoft.com/office/powerpoint/2010/main" val="42566185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8686800" cy="6354762"/>
          </a:xfrm>
        </p:spPr>
        <p:txBody>
          <a:bodyPr>
            <a:normAutofit fontScale="90000"/>
          </a:bodyPr>
          <a:lstStyle/>
          <a:p>
            <a:pPr algn="r" rtl="1"/>
            <a:r>
              <a:rPr lang="ar-SA" b="1" dirty="0" smtClean="0">
                <a:solidFill>
                  <a:srgbClr val="FF0000"/>
                </a:solidFill>
              </a:rPr>
              <a:t>2- مخطط مسارات السباحة :</a:t>
            </a:r>
            <a:r>
              <a:rPr lang="ar-SA" dirty="0" smtClean="0"/>
              <a:t/>
            </a:r>
            <a:br>
              <a:rPr lang="ar-SA" dirty="0" smtClean="0"/>
            </a:br>
            <a:r>
              <a:rPr lang="ar-SA" sz="3200" dirty="0"/>
              <a:t>مخطط يحاكي بصرياً الحارات المختلفة في حمام السباحة ولكل مسار عملياته الخاصة وأعضاء فريقه ويبين المخطط بوضوح كيف تؤثر مختلف تصرفات أعضاء الفريق علي الاخرين في مختلف المسارات .تعد مخططات مسار السباحة مفيدة بشكل خاص للمنظمات الكبيرة التي لديها أقسام وفرق مختلفة تعتمد علي بعضها البعض .  </a:t>
            </a:r>
            <a:r>
              <a:rPr lang="ar-SA" sz="3200" dirty="0" smtClean="0"/>
              <a:t/>
            </a:r>
            <a:br>
              <a:rPr lang="ar-SA" sz="3200" dirty="0" smtClean="0"/>
            </a:br>
            <a:r>
              <a:rPr lang="ar-SA" b="1" dirty="0">
                <a:solidFill>
                  <a:srgbClr val="FF0000"/>
                </a:solidFill>
              </a:rPr>
              <a:t>3- مخطط الكتل :</a:t>
            </a:r>
            <a:r>
              <a:rPr lang="ar-SA" sz="3200" dirty="0" smtClean="0"/>
              <a:t/>
            </a:r>
            <a:br>
              <a:rPr lang="ar-SA" sz="3200" dirty="0" smtClean="0"/>
            </a:br>
            <a:r>
              <a:rPr lang="ar-SA" sz="3200" dirty="0" smtClean="0"/>
              <a:t>هو نوع من مخططات سير العمل الذي تنطبق بشكل أساسي علي الأنظمة بدلاً من العمليات المعقدة أو العمليات التجارية .</a:t>
            </a:r>
            <a:br>
              <a:rPr lang="ar-SA" sz="3200" dirty="0" smtClean="0"/>
            </a:br>
            <a:r>
              <a:rPr lang="ar-SA" sz="3200" dirty="0" smtClean="0"/>
              <a:t>تمثل كل كتلة جزءاً من المنظومة قد تكون تلك المنظومة ميكانيكية أو تقنية وكل جزء فيها مرتبط بالجزء التالي في الصف تعد كل كتلة ضرورية لتشغيل النظام . </a:t>
            </a:r>
            <a:endParaRPr lang="en-US" sz="3200" dirty="0"/>
          </a:p>
        </p:txBody>
      </p:sp>
    </p:spTree>
    <p:extLst>
      <p:ext uri="{BB962C8B-B14F-4D97-AF65-F5344CB8AC3E}">
        <p14:creationId xmlns:p14="http://schemas.microsoft.com/office/powerpoint/2010/main" val="15159304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274638"/>
            <a:ext cx="8839200" cy="6354762"/>
          </a:xfrm>
        </p:spPr>
        <p:txBody>
          <a:bodyPr/>
          <a:lstStyle/>
          <a:p>
            <a:pPr algn="r" rtl="1"/>
            <a:r>
              <a:rPr lang="ar-SA" b="1" dirty="0" smtClean="0">
                <a:solidFill>
                  <a:srgbClr val="FF0000"/>
                </a:solidFill>
              </a:rPr>
              <a:t>4- مخطط نموذج عمليات الاعمال والترميز :</a:t>
            </a:r>
            <a:r>
              <a:rPr lang="ar-SA" dirty="0" smtClean="0"/>
              <a:t/>
            </a:r>
            <a:br>
              <a:rPr lang="ar-SA" dirty="0" smtClean="0"/>
            </a:br>
            <a:r>
              <a:rPr lang="ar-SA" sz="2900" dirty="0"/>
              <a:t>هو مثال عن مخطط سير عمل يستخدم بشكل اساسي من قبل المديرين ومحللي الاعمال </a:t>
            </a:r>
            <a:r>
              <a:rPr lang="ar-SA" sz="2900" dirty="0" smtClean="0"/>
              <a:t>.</a:t>
            </a:r>
            <a:br>
              <a:rPr lang="ar-SA" sz="2900" dirty="0" smtClean="0"/>
            </a:br>
            <a:r>
              <a:rPr lang="ar-SA" b="1" dirty="0">
                <a:solidFill>
                  <a:srgbClr val="FF0000"/>
                </a:solidFill>
              </a:rPr>
              <a:t>5- مخطط نشاط لغة النمذجة الموحدة </a:t>
            </a:r>
            <a:r>
              <a:rPr lang="en-US" b="1" dirty="0">
                <a:solidFill>
                  <a:srgbClr val="FF0000"/>
                </a:solidFill>
              </a:rPr>
              <a:t>UML</a:t>
            </a:r>
          </a:p>
        </p:txBody>
      </p:sp>
    </p:spTree>
    <p:extLst>
      <p:ext uri="{BB962C8B-B14F-4D97-AF65-F5344CB8AC3E}">
        <p14:creationId xmlns:p14="http://schemas.microsoft.com/office/powerpoint/2010/main" val="30336217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430962"/>
          </a:xfrm>
        </p:spPr>
        <p:txBody>
          <a:bodyPr/>
          <a:lstStyle/>
          <a:p>
            <a:pPr algn="r" rtl="1"/>
            <a:r>
              <a:rPr lang="ar-SA" dirty="0" smtClean="0">
                <a:solidFill>
                  <a:srgbClr val="FF0000"/>
                </a:solidFill>
              </a:rPr>
              <a:t>كيف يتم انشاء مخطط سير العمل :</a:t>
            </a:r>
            <a:r>
              <a:rPr lang="ar-SA" dirty="0" smtClean="0"/>
              <a:t/>
            </a:r>
            <a:br>
              <a:rPr lang="ar-SA" dirty="0" smtClean="0"/>
            </a:br>
            <a:r>
              <a:rPr lang="ar-SA" sz="4000" b="1" dirty="0" smtClean="0">
                <a:solidFill>
                  <a:srgbClr val="FF0000"/>
                </a:solidFill>
              </a:rPr>
              <a:t>1- أختر عملية </a:t>
            </a:r>
            <a:r>
              <a:rPr lang="ar-SA" dirty="0" smtClean="0"/>
              <a:t/>
            </a:r>
            <a:br>
              <a:rPr lang="ar-SA" dirty="0" smtClean="0"/>
            </a:br>
            <a:r>
              <a:rPr lang="ar-SA" sz="2900" dirty="0"/>
              <a:t>حدد عملية واحدة يقوم المخطط بتوثيقها .</a:t>
            </a:r>
            <a:r>
              <a:rPr lang="ar-SA" dirty="0" smtClean="0"/>
              <a:t/>
            </a:r>
            <a:br>
              <a:rPr lang="ar-SA" dirty="0" smtClean="0"/>
            </a:br>
            <a:r>
              <a:rPr lang="ar-SA" sz="4000" b="1" dirty="0" smtClean="0">
                <a:solidFill>
                  <a:srgbClr val="FF0000"/>
                </a:solidFill>
              </a:rPr>
              <a:t>2- حدد نقاط البداية والنهاية </a:t>
            </a:r>
            <a:r>
              <a:rPr lang="ar-SA" dirty="0" smtClean="0"/>
              <a:t/>
            </a:r>
            <a:br>
              <a:rPr lang="ar-SA" dirty="0" smtClean="0"/>
            </a:br>
            <a:r>
              <a:rPr lang="ar-SA" sz="2900" dirty="0"/>
              <a:t>تحديد هذه النقاط يساعد علي انشاء مخطط تفصيلي للمشروع قبل اضافة التفاصيل الدقيقة له . </a:t>
            </a:r>
            <a:r>
              <a:rPr lang="ar-SA" sz="2900" dirty="0" smtClean="0"/>
              <a:t/>
            </a:r>
            <a:br>
              <a:rPr lang="ar-SA" sz="2900" dirty="0" smtClean="0"/>
            </a:br>
            <a:r>
              <a:rPr lang="ar-SA" sz="2900" b="1" dirty="0" smtClean="0">
                <a:solidFill>
                  <a:srgbClr val="FF0000"/>
                </a:solidFill>
              </a:rPr>
              <a:t>3- تجميع المعلومات </a:t>
            </a:r>
            <a:r>
              <a:rPr lang="ar-SA" sz="2900" dirty="0" smtClean="0"/>
              <a:t/>
            </a:r>
            <a:br>
              <a:rPr lang="ar-SA" sz="2900" dirty="0" smtClean="0"/>
            </a:br>
            <a:r>
              <a:rPr lang="ar-SA" sz="2900" b="1" dirty="0" smtClean="0">
                <a:solidFill>
                  <a:srgbClr val="FF0000"/>
                </a:solidFill>
              </a:rPr>
              <a:t>4- تصميم سير العمل </a:t>
            </a:r>
            <a:endParaRPr lang="en-US" sz="2900" b="1" dirty="0">
              <a:solidFill>
                <a:srgbClr val="FF0000"/>
              </a:solidFill>
            </a:endParaRPr>
          </a:p>
        </p:txBody>
      </p:sp>
    </p:spTree>
    <p:extLst>
      <p:ext uri="{BB962C8B-B14F-4D97-AF65-F5344CB8AC3E}">
        <p14:creationId xmlns:p14="http://schemas.microsoft.com/office/powerpoint/2010/main" val="34053267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54762"/>
          </a:xfrm>
        </p:spPr>
        <p:txBody>
          <a:bodyPr/>
          <a:lstStyle/>
          <a:p>
            <a:r>
              <a:rPr lang="en-US" sz="8800" b="1" dirty="0" smtClean="0"/>
              <a:t>H.W(1)</a:t>
            </a:r>
            <a:r>
              <a:rPr lang="en-US" dirty="0" smtClean="0"/>
              <a:t/>
            </a:r>
            <a:br>
              <a:rPr lang="en-US" dirty="0" smtClean="0"/>
            </a:br>
            <a:r>
              <a:rPr lang="ar-SA" sz="5400" b="1" dirty="0" smtClean="0">
                <a:solidFill>
                  <a:srgbClr val="FF0000"/>
                </a:solidFill>
              </a:rPr>
              <a:t>أختر أحدي المخططات السابقة لتمثيل عمليات تصنيع برمجيات المحاكي الآلي للطائرات التجارية </a:t>
            </a:r>
            <a:br>
              <a:rPr lang="ar-SA" sz="5400" b="1" dirty="0" smtClean="0">
                <a:solidFill>
                  <a:srgbClr val="FF0000"/>
                </a:solidFill>
              </a:rPr>
            </a:br>
            <a:endParaRPr lang="en-US" sz="5400" b="1" dirty="0">
              <a:solidFill>
                <a:srgbClr val="FF0000"/>
              </a:solidFill>
            </a:endParaRPr>
          </a:p>
        </p:txBody>
      </p:sp>
    </p:spTree>
    <p:extLst>
      <p:ext uri="{BB962C8B-B14F-4D97-AF65-F5344CB8AC3E}">
        <p14:creationId xmlns:p14="http://schemas.microsoft.com/office/powerpoint/2010/main" val="26054580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156</TotalTime>
  <Words>79</Words>
  <Application>Microsoft Office PowerPoint</Application>
  <PresentationFormat>On-screen Show (4:3)</PresentationFormat>
  <Paragraphs>11</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Times New Roman</vt:lpstr>
      <vt:lpstr>Office Theme</vt:lpstr>
      <vt:lpstr>مخططات سير العمل </vt:lpstr>
      <vt:lpstr>أصبحت مخططات سير العمل شائعة بشكل متزايد في عالم الاعمال وقد تم تنفيذها في العديد من القطاعات للمساعدة في عملية توثيق العمليات وتوضيحها ومن مزايا إنشاء مخططات سير العمل وتنفيذها : 1- الحصول علي نظرة مرئية للعملية : معظم البشر بصريون خاصة عند التعامل مع مواضيع مجردة ومعقدة تكمن روعة مخطط سير العمل في بساطته ان تخطيط عملية باستخدام الاشكال والالوان والرموز يجعل فهم العمليات والاجراءات المعقدة اسهل بكثير . </vt:lpstr>
      <vt:lpstr>2- تحسين الكفاءة : تضمن مخططات سير العمل ان يفهم كل فرد داخل الفريق الخطوات التي يتعين عليه اتخاذها ضمن التسلسل . هذا النوع من فهم « الصورة الاكبر « يحسن الكفاءة ويساعد اعضاء الفريق علي اكمال العمليات .  3- التواصل : تصبح مخططات سير العمل جزءاً من عملية التوثيق التي تضمن الشفافية والتواصل داخل الفريق وباستخدام الرموز والاشكال والتعريفات تعتبر طريقة فعالة من اجل توصيل فكرة ما قد يكون من الصعب مناقشتها شفهياً .</vt:lpstr>
      <vt:lpstr>4- التعرف علي الافراد ومسؤولياتهم : يساعد المخطط في تصور عملية سير العمل من وجهة نظر تنازلية وبعد تحليل مخطط سير العمل سيعرف الجميع من يؤدي هذا الدور دون غيره وذلك يعزز المساءلة وفهم الكيفية التي ينسجم بها كل عضو في الفريق . 5- تحديد العراقيل وطرق تحسين عمليات الشركة: كما يمكن استخدام مخطط سير العمل في تتبع التقدم فانه يمكن استخدامه ايضا في فهم الموضع الذي سينهار فيه التقدم.   </vt:lpstr>
      <vt:lpstr>متي يستخدم مخطط سير العمل : 1- تطوير البرمجيات : يستخدم في العديد من عمليات البرمجيات ويمكن أن يسهل أيضاً تتبع تقدم تطوير البرمجيات .  2- التجارة الالكترونية : يمكن لمخطط سير العمل أن يمثل في عالم التجارة الالكترونية عميلاً يتصفح متجراً عبر الانترنت بحيث يمكن أن يساعد ذالك علي أن يفهموا بشكل أفضل كيفية توجيه العملاء من خلال الخطوات التي يحتاجون الي اتخاذها لشراء منتج أو استئجار خدمة .</vt:lpstr>
      <vt:lpstr>3- التصنيع : تم استخدام مخططات سير العمل في الاصل في الصناعة التحويلية وهي توضح تسلسل الخطوات التي يتعين علي فرق التصنيع اتخاذها لانشاء منتجات متسقة وعالية الجودة . 4- المجال الطبي :   يمكن تخطيط الاجراءات الطبية بسهولة وفقاً لتسلسل خطي من الخطوات.   يمكن أن تكون مخططات سير العمل ذات جدوي في وضع عملية موحدة يمكن لمزاولي المهن الطبية اتباعها عند اجراء العملية الجراحية .</vt:lpstr>
      <vt:lpstr>أنواع مخططات سير العمل : قد تتخذ مخططات سير العمل العديد من الاشكال المختلفة وتؤدي مختلف أنواع هذه المخططات وظائف متنوعة ويأتي كل منها مصحوباً بوسيلة إيضاح مخطط سير العمل الخاصة به مع استخدامات ورموز محددة وفيما يلي بعض أنواع مخططات سير العمل الأكثر شيوعاً :    1- المخطط الانسيابي :  يتكون من أشكال ورموز مختلفة كل منها يصور خطوة مختلفة ضمن تسلسل أو عملية تمثل هذه الاشكال عناصر مختلفة لسير العمل  مثل الاجراءات والمواد والخدمات والمدخلات والمخرجات حيث يمكن لاستخدام المخطط الانسيابي لتوضيح سير العمل أن يساعد علي تصور كيفية تدفق المهام بين الموارد .  </vt:lpstr>
      <vt:lpstr>2- مخطط مسارات السباحة : مخطط يحاكي بصرياً الحارات المختلفة في حمام السباحة ولكل مسار عملياته الخاصة وأعضاء فريقه ويبين المخطط بوضوح كيف تؤثر مختلف تصرفات أعضاء الفريق علي الاخرين في مختلف المسارات .تعد مخططات مسار السباحة مفيدة بشكل خاص للمنظمات الكبيرة التي لديها أقسام وفرق مختلفة تعتمد علي بعضها البعض .   3- مخطط الكتل : هو نوع من مخططات سير العمل الذي تنطبق بشكل أساسي علي الأنظمة بدلاً من العمليات المعقدة أو العمليات التجارية . تمثل كل كتلة جزءاً من المنظومة قد تكون تلك المنظومة ميكانيكية أو تقنية وكل جزء فيها مرتبط بالجزء التالي في الصف تعد كل كتلة ضرورية لتشغيل النظام . </vt:lpstr>
      <vt:lpstr>4- مخطط نموذج عمليات الاعمال والترميز : هو مثال عن مخطط سير عمل يستخدم بشكل اساسي من قبل المديرين ومحللي الاعمال . 5- مخطط نشاط لغة النمذجة الموحدة UML</vt:lpstr>
      <vt:lpstr>كيف يتم انشاء مخطط سير العمل : 1- أختر عملية  حدد عملية واحدة يقوم المخطط بتوثيقها . 2- حدد نقاط البداية والنهاية  تحديد هذه النقاط يساعد علي انشاء مخطط تفصيلي للمشروع قبل اضافة التفاصيل الدقيقة له .  3- تجميع المعلومات  4- تصميم سير العمل </vt:lpstr>
      <vt:lpstr>H.W(1) أختر أحدي المخططات السابقة لتمثيل عمليات تصنيع برمجيات المحاكي الآلي للطائرات التجارية  </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مخططات سير العمل</dc:title>
  <dc:creator>MOATSEM</dc:creator>
  <cp:lastModifiedBy>Moatsem Hamid</cp:lastModifiedBy>
  <cp:revision>64</cp:revision>
  <dcterms:created xsi:type="dcterms:W3CDTF">2006-08-16T00:00:00Z</dcterms:created>
  <dcterms:modified xsi:type="dcterms:W3CDTF">2025-11-03T12:36:12Z</dcterms:modified>
</cp:coreProperties>
</file>